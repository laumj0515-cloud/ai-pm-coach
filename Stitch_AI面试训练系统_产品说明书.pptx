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112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73152" cy="6858000"/>
          </a:xfrm>
          <a:prstGeom prst="rect">
            <a:avLst/>
          </a:prstGeom>
          <a:solidFill>
            <a:srgbClr val="6366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14400" y="548640"/>
            <a:ext cx="3657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818CF8"/>
                </a:solidFill>
                <a:latin typeface="Noto Sans SC"/>
              </a:defRPr>
            </a:pPr>
            <a:r>
              <a:t>AI PM · 面试训练系统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1645920"/>
            <a:ext cx="91440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6400" b="1">
                <a:solidFill>
                  <a:srgbClr val="E2E8F0"/>
                </a:solidFill>
                <a:latin typeface="Noto Sans SC"/>
              </a:defRPr>
            </a:pPr>
            <a:r>
              <a:t>Stitch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2651760"/>
            <a:ext cx="9144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0">
                <a:solidFill>
                  <a:srgbClr val="94A3B8"/>
                </a:solidFill>
                <a:latin typeface="Noto Sans SC"/>
              </a:defRPr>
            </a:pPr>
            <a:r>
              <a:t>AI 面试训练系统 — 产品说明书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3840480"/>
            <a:ext cx="9144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64748B"/>
                </a:solidFill>
                <a:latin typeface="Noto Sans SC"/>
              </a:defRPr>
            </a:pPr>
            <a:r>
              <a:t>专为 AI 产品经理岗位设计的个性化模拟面试工具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14400" y="5303520"/>
            <a:ext cx="5486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64748B"/>
                </a:solidFill>
                <a:latin typeface="Noto Sans SC"/>
              </a:defRPr>
            </a:pPr>
            <a:r>
              <a:t>作者：刘美姣  |  v1.0  |  React · DeepSeek API · Web Speech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112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548640"/>
            <a:ext cx="3657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818CF8"/>
                </a:solidFill>
                <a:latin typeface="Noto Sans SC"/>
              </a:defRPr>
            </a:pPr>
            <a:r>
              <a:t>01 · 项目背景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1005840"/>
            <a:ext cx="91440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E2E8F0"/>
                </a:solidFill>
                <a:latin typeface="Noto Sans SC"/>
              </a:defRPr>
            </a:pPr>
            <a:r>
              <a:t>为什么需要这个工具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1737360"/>
            <a:ext cx="9144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94A3B8"/>
                </a:solidFill>
                <a:latin typeface="Noto Sans SC"/>
              </a:defRPr>
            </a:pPr>
            <a:r>
              <a:t>刘美姣，2年产品经验，家居行业转AI产品经理。一年Gap期独立开发Tempo和Mibo。求职中发现四个核心痛点：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914400" y="2377440"/>
            <a:ext cx="2377440" cy="3474720"/>
          </a:xfrm>
          <a:prstGeom prst="roundRect">
            <a:avLst/>
          </a:prstGeom>
          <a:solidFill>
            <a:srgbClr val="111827"/>
          </a:solidFill>
          <a:ln w="12700">
            <a:solidFill>
              <a:srgbClr val="1E2D3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188720" y="2651760"/>
            <a:ext cx="1828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0">
                <a:solidFill>
                  <a:srgbClr val="E2E8F0"/>
                </a:solidFill>
                <a:latin typeface="Noto Sans SC"/>
              </a:defRPr>
            </a:pPr>
            <a:r>
              <a:t>🎯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88720" y="3200400"/>
            <a:ext cx="1828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E2E8F0"/>
                </a:solidFill>
                <a:latin typeface="Noto Sans SC"/>
              </a:defRPr>
            </a:pPr>
            <a:r>
              <a:t>岗位名不副实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88720" y="3657600"/>
            <a:ext cx="1828800" cy="1920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64748B"/>
                </a:solidFill>
                <a:latin typeface="Noto Sans SC"/>
              </a:defRPr>
            </a:pPr>
            <a:r>
              <a:t>JD写"应用层AI PM"，面试问的全是模型层问题。需要练如何识别并回应——"这不是我该答的方向"。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3520440" y="2377440"/>
            <a:ext cx="2377440" cy="3474720"/>
          </a:xfrm>
          <a:prstGeom prst="roundRect">
            <a:avLst/>
          </a:prstGeom>
          <a:solidFill>
            <a:srgbClr val="111827"/>
          </a:solidFill>
          <a:ln w="12700">
            <a:solidFill>
              <a:srgbClr val="1E2D3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3794760" y="2651760"/>
            <a:ext cx="1828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0">
                <a:solidFill>
                  <a:srgbClr val="E2E8F0"/>
                </a:solidFill>
                <a:latin typeface="Noto Sans SC"/>
              </a:defRPr>
            </a:pPr>
            <a:r>
              <a:t>🔄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794760" y="3200400"/>
            <a:ext cx="1828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E2E8F0"/>
                </a:solidFill>
                <a:latin typeface="Noto Sans SC"/>
              </a:defRPr>
            </a:pPr>
            <a:r>
              <a:t>表达能力弱环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794760" y="3657600"/>
            <a:ext cx="1828800" cy="1920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64748B"/>
                </a:solidFill>
                <a:latin typeface="Noto Sans SC"/>
              </a:defRPr>
            </a:pPr>
            <a:r>
              <a:t>思维强但表达跳跃。面试时把内心逻辑密度变成信息过载，说很多但没说到点上。需训练结构化输出。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126480" y="2377440"/>
            <a:ext cx="2377440" cy="3474720"/>
          </a:xfrm>
          <a:prstGeom prst="roundRect">
            <a:avLst/>
          </a:prstGeom>
          <a:solidFill>
            <a:srgbClr val="111827"/>
          </a:solidFill>
          <a:ln w="12700">
            <a:solidFill>
              <a:srgbClr val="1E2D3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400800" y="2651760"/>
            <a:ext cx="1828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0">
                <a:solidFill>
                  <a:srgbClr val="E2E8F0"/>
                </a:solidFill>
                <a:latin typeface="Noto Sans SC"/>
              </a:defRPr>
            </a:pPr>
            <a:r>
              <a:t>📊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400800" y="3200400"/>
            <a:ext cx="1828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E2E8F0"/>
                </a:solidFill>
                <a:latin typeface="Noto Sans SC"/>
              </a:defRPr>
            </a:pPr>
            <a:r>
              <a:t>数据支撑不够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400800" y="3657600"/>
            <a:ext cx="1828800" cy="1920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64748B"/>
                </a:solidFill>
                <a:latin typeface="Noto Sans SC"/>
              </a:defRPr>
            </a:pPr>
            <a:r>
              <a:t>Tempo和Mibo有真实数据和产品沉淀，但面试时无法快速调用。需反复训练"用数据说话"的肌肉记忆。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8732520" y="2377440"/>
            <a:ext cx="2377440" cy="3474720"/>
          </a:xfrm>
          <a:prstGeom prst="roundRect">
            <a:avLst/>
          </a:prstGeom>
          <a:solidFill>
            <a:srgbClr val="111827"/>
          </a:solidFill>
          <a:ln w="12700">
            <a:solidFill>
              <a:srgbClr val="1E2D3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9006840" y="2651760"/>
            <a:ext cx="1828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0">
                <a:solidFill>
                  <a:srgbClr val="E2E8F0"/>
                </a:solidFill>
                <a:latin typeface="Noto Sans SC"/>
              </a:defRPr>
            </a:pPr>
            <a:r>
              <a:t>📝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9006840" y="3200400"/>
            <a:ext cx="1828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E2E8F0"/>
                </a:solidFill>
                <a:latin typeface="Noto Sans SC"/>
              </a:defRPr>
            </a:pPr>
            <a:r>
              <a:t>无法模拟追问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9006840" y="3657600"/>
            <a:ext cx="1828800" cy="1920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64748B"/>
                </a:solidFill>
                <a:latin typeface="Noto Sans SC"/>
              </a:defRPr>
            </a:pPr>
            <a:r>
              <a:t>跟自己练习看不出问题。需要一个严格、会打断、会追问"不够具体"的真实面试官来对练。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112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548640"/>
            <a:ext cx="3657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818CF8"/>
                </a:solidFill>
                <a:latin typeface="Noto Sans SC"/>
              </a:defRPr>
            </a:pPr>
            <a:r>
              <a:t>02 · 解决方案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1005840"/>
            <a:ext cx="91440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E2E8F0"/>
                </a:solidFill>
                <a:latin typeface="Noto Sans SC"/>
              </a:defRPr>
            </a:pPr>
            <a:r>
              <a:t>一个记住你全部底牌的 AI 面试教练</a:t>
            </a:r>
          </a:p>
        </p:txBody>
      </p:sp>
      <p:sp>
        <p:nvSpPr>
          <p:cNvPr id="4" name="Rectangle 3"/>
          <p:cNvSpPr/>
          <p:nvPr/>
        </p:nvSpPr>
        <p:spPr>
          <a:xfrm>
            <a:off x="914400" y="2286000"/>
            <a:ext cx="548640" cy="25400"/>
          </a:xfrm>
          <a:prstGeom prst="rect">
            <a:avLst/>
          </a:prstGeom>
          <a:solidFill>
            <a:srgbClr val="6366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14400" y="2423160"/>
            <a:ext cx="9144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E2E8F0"/>
                </a:solidFill>
                <a:latin typeface="Noto Sans SC"/>
              </a:defRPr>
            </a:pPr>
            <a:r>
              <a:t>不是问题库，而是对话引擎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2788920"/>
            <a:ext cx="8229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94A3B8"/>
                </a:solidFill>
                <a:latin typeface="Noto Sans SC"/>
              </a:defRPr>
            </a:pPr>
            <a:r>
              <a:t>它需要听懂你说了什么，判断你是否真的回答到了问题——这是最难的地方，也是最重要的。</a:t>
            </a:r>
          </a:p>
        </p:txBody>
      </p:sp>
      <p:sp>
        <p:nvSpPr>
          <p:cNvPr id="7" name="Rectangle 6"/>
          <p:cNvSpPr/>
          <p:nvPr/>
        </p:nvSpPr>
        <p:spPr>
          <a:xfrm>
            <a:off x="914400" y="3657600"/>
            <a:ext cx="548640" cy="25400"/>
          </a:xfrm>
          <a:prstGeom prst="rect">
            <a:avLst/>
          </a:prstGeom>
          <a:solidFill>
            <a:srgbClr val="6366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14400" y="3794760"/>
            <a:ext cx="9144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E2E8F0"/>
                </a:solidFill>
                <a:latin typeface="Noto Sans SC"/>
              </a:defRPr>
            </a:pPr>
            <a:r>
              <a:t>不是鼓励型，而是严苛型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14400" y="4160520"/>
            <a:ext cx="8229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94A3B8"/>
                </a:solidFill>
                <a:latin typeface="Noto Sans SC"/>
              </a:defRPr>
            </a:pPr>
            <a:r>
              <a:t>因为你对敷衍极敏感，假装满意的反馈对你没用。它会打断你、追问你、说"不够具体"。</a:t>
            </a:r>
          </a:p>
        </p:txBody>
      </p:sp>
      <p:sp>
        <p:nvSpPr>
          <p:cNvPr id="10" name="Rectangle 9"/>
          <p:cNvSpPr/>
          <p:nvPr/>
        </p:nvSpPr>
        <p:spPr>
          <a:xfrm>
            <a:off x="914400" y="5029200"/>
            <a:ext cx="548640" cy="25400"/>
          </a:xfrm>
          <a:prstGeom prst="rect">
            <a:avLst/>
          </a:prstGeom>
          <a:solidFill>
            <a:srgbClr val="6366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914400" y="5166360"/>
            <a:ext cx="9144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E2E8F0"/>
                </a:solidFill>
                <a:latin typeface="Noto Sans SC"/>
              </a:defRPr>
            </a:pPr>
            <a:r>
              <a:t>不止练表达，还练边界感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14400" y="5532120"/>
            <a:ext cx="8229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94A3B8"/>
                </a:solidFill>
                <a:latin typeface="Noto Sans SC"/>
              </a:defRPr>
            </a:pPr>
            <a:r>
              <a:t>遇到模型训推、embedding这类不属于应用层PM的问题，它会告诉你"这不是你该答的方向"。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112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548640"/>
            <a:ext cx="3657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818CF8"/>
                </a:solidFill>
                <a:latin typeface="Noto Sans SC"/>
              </a:defRPr>
            </a:pPr>
            <a:r>
              <a:t>03 · 核心功能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1005840"/>
            <a:ext cx="91440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E2E8F0"/>
                </a:solidFill>
                <a:latin typeface="Noto Sans SC"/>
              </a:defRPr>
            </a:pPr>
            <a:r>
              <a:t>五步闭环训练流程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975207" y="2743200"/>
            <a:ext cx="1828800" cy="2560320"/>
          </a:xfrm>
          <a:prstGeom prst="roundRect">
            <a:avLst/>
          </a:prstGeom>
          <a:solidFill>
            <a:srgbClr val="111827"/>
          </a:solidFill>
          <a:ln w="12700">
            <a:solidFill>
              <a:srgbClr val="1E2D3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158087" y="2926080"/>
            <a:ext cx="146304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600" b="1">
                <a:solidFill>
                  <a:srgbClr val="6366F1"/>
                </a:solidFill>
                <a:latin typeface="Noto Sans SC"/>
              </a:defRPr>
            </a:pPr>
            <a:r>
              <a:t>01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58087" y="3657600"/>
            <a:ext cx="14630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E2E8F0"/>
                </a:solidFill>
                <a:latin typeface="Noto Sans SC"/>
              </a:defRPr>
            </a:pPr>
            <a:r>
              <a:t>选择模式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58087" y="4114800"/>
            <a:ext cx="146304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64748B"/>
                </a:solidFill>
                <a:latin typeface="Noto Sans SC"/>
              </a:defRPr>
            </a:pPr>
            <a:r>
              <a:t>创始人/HR/</a:t>
            </a:r>
            <a:br/>
            <a:r>
              <a:t>技术PM/薪资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822295" y="3749039"/>
            <a:ext cx="2743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0">
                <a:solidFill>
                  <a:srgbClr val="64748B"/>
                </a:solidFill>
                <a:latin typeface="Noto Sans SC"/>
              </a:defRPr>
            </a:pPr>
            <a:r>
              <a:t>→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3078327" y="2743200"/>
            <a:ext cx="1828800" cy="2560320"/>
          </a:xfrm>
          <a:prstGeom prst="roundRect">
            <a:avLst/>
          </a:prstGeom>
          <a:solidFill>
            <a:srgbClr val="111827"/>
          </a:solidFill>
          <a:ln w="12700">
            <a:solidFill>
              <a:srgbClr val="1E2D3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3261207" y="2926080"/>
            <a:ext cx="146304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600" b="1">
                <a:solidFill>
                  <a:srgbClr val="6366F1"/>
                </a:solidFill>
                <a:latin typeface="Noto Sans SC"/>
              </a:defRPr>
            </a:pPr>
            <a:r>
              <a:t>02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261207" y="3657600"/>
            <a:ext cx="14630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E2E8F0"/>
                </a:solidFill>
                <a:latin typeface="Noto Sans SC"/>
              </a:defRPr>
            </a:pPr>
            <a:r>
              <a:t>AI 提问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261207" y="4114800"/>
            <a:ext cx="146304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64748B"/>
                </a:solidFill>
                <a:latin typeface="Noto Sans SC"/>
              </a:defRPr>
            </a:pPr>
            <a:r>
              <a:t>基于你的背景</a:t>
            </a:r>
            <a:br/>
            <a:r>
              <a:t>深度追问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925415" y="3749039"/>
            <a:ext cx="2743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0">
                <a:solidFill>
                  <a:srgbClr val="64748B"/>
                </a:solidFill>
                <a:latin typeface="Noto Sans SC"/>
              </a:defRPr>
            </a:pPr>
            <a:r>
              <a:t>→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5181447" y="2743200"/>
            <a:ext cx="1828800" cy="2560320"/>
          </a:xfrm>
          <a:prstGeom prst="roundRect">
            <a:avLst/>
          </a:prstGeom>
          <a:solidFill>
            <a:srgbClr val="111827"/>
          </a:solidFill>
          <a:ln w="12700">
            <a:solidFill>
              <a:srgbClr val="1E2D3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5364327" y="2926080"/>
            <a:ext cx="146304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600" b="1">
                <a:solidFill>
                  <a:srgbClr val="6366F1"/>
                </a:solidFill>
                <a:latin typeface="Noto Sans SC"/>
              </a:defRPr>
            </a:pPr>
            <a:r>
              <a:t>03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364327" y="3657600"/>
            <a:ext cx="14630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E2E8F0"/>
                </a:solidFill>
                <a:latin typeface="Noto Sans SC"/>
              </a:defRPr>
            </a:pPr>
            <a:r>
              <a:t>你回答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364327" y="4114800"/>
            <a:ext cx="146304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64748B"/>
                </a:solidFill>
                <a:latin typeface="Noto Sans SC"/>
              </a:defRPr>
            </a:pPr>
            <a:r>
              <a:t>文字/语音/</a:t>
            </a:r>
            <a:br/>
            <a:r>
              <a:t>长按录音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028535" y="3749039"/>
            <a:ext cx="2743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0">
                <a:solidFill>
                  <a:srgbClr val="64748B"/>
                </a:solidFill>
                <a:latin typeface="Noto Sans SC"/>
              </a:defRPr>
            </a:pPr>
            <a:r>
              <a:t>→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7284567" y="2743200"/>
            <a:ext cx="1828800" cy="2560320"/>
          </a:xfrm>
          <a:prstGeom prst="roundRect">
            <a:avLst/>
          </a:prstGeom>
          <a:solidFill>
            <a:srgbClr val="111827"/>
          </a:solidFill>
          <a:ln w="12700">
            <a:solidFill>
              <a:srgbClr val="1E2D3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7467447" y="2926080"/>
            <a:ext cx="146304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600" b="1">
                <a:solidFill>
                  <a:srgbClr val="6366F1"/>
                </a:solidFill>
                <a:latin typeface="Noto Sans SC"/>
              </a:defRPr>
            </a:pPr>
            <a:r>
              <a:t>04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467447" y="3657600"/>
            <a:ext cx="14630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E2E8F0"/>
                </a:solidFill>
                <a:latin typeface="Noto Sans SC"/>
              </a:defRPr>
            </a:pPr>
            <a:r>
              <a:t>即时点评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7467447" y="4114800"/>
            <a:ext cx="146304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64748B"/>
                </a:solidFill>
                <a:latin typeface="Noto Sans SC"/>
              </a:defRPr>
            </a:pPr>
            <a:r>
              <a:t>✅好的 ❌改善</a:t>
            </a:r>
            <a:br/>
            <a:r>
              <a:t>💡示范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9131655" y="3749039"/>
            <a:ext cx="2743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0">
                <a:solidFill>
                  <a:srgbClr val="64748B"/>
                </a:solidFill>
                <a:latin typeface="Noto Sans SC"/>
              </a:defRPr>
            </a:pPr>
            <a:r>
              <a:t>→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9387687" y="2743200"/>
            <a:ext cx="1828800" cy="2560320"/>
          </a:xfrm>
          <a:prstGeom prst="roundRect">
            <a:avLst/>
          </a:prstGeom>
          <a:solidFill>
            <a:srgbClr val="111827"/>
          </a:solidFill>
          <a:ln w="12700">
            <a:solidFill>
              <a:srgbClr val="1E2D3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9570567" y="2926080"/>
            <a:ext cx="146304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600" b="1">
                <a:solidFill>
                  <a:srgbClr val="6366F1"/>
                </a:solidFill>
                <a:latin typeface="Noto Sans SC"/>
              </a:defRPr>
            </a:pPr>
            <a:r>
              <a:t>05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9570567" y="3657600"/>
            <a:ext cx="14630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E2E8F0"/>
                </a:solidFill>
                <a:latin typeface="Noto Sans SC"/>
              </a:defRPr>
            </a:pPr>
            <a:r>
              <a:t>总结复盘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9570567" y="4114800"/>
            <a:ext cx="146304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64748B"/>
                </a:solidFill>
                <a:latin typeface="Noto Sans SC"/>
              </a:defRPr>
            </a:pPr>
            <a:r>
              <a:t>总分+逐题分析</a:t>
            </a:r>
            <a:br/>
            <a:r>
              <a:t>+薄弱追踪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112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548640"/>
            <a:ext cx="3657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818CF8"/>
                </a:solidFill>
                <a:latin typeface="Noto Sans SC"/>
              </a:defRPr>
            </a:pPr>
            <a:r>
              <a:t>04 · 面试模式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1005840"/>
            <a:ext cx="91440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E2E8F0"/>
                </a:solidFill>
                <a:latin typeface="Noto Sans SC"/>
              </a:defRPr>
            </a:pPr>
            <a:r>
              <a:t>四种模式，覆盖全部面试场景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914400" y="2286000"/>
            <a:ext cx="2377440" cy="3291840"/>
          </a:xfrm>
          <a:prstGeom prst="roundRect">
            <a:avLst/>
          </a:prstGeom>
          <a:solidFill>
            <a:srgbClr val="111827"/>
          </a:solidFill>
          <a:ln w="12700">
            <a:solidFill>
              <a:srgbClr val="1E2D3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188720" y="2560320"/>
            <a:ext cx="1828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0">
                <a:solidFill>
                  <a:srgbClr val="E2E8F0"/>
                </a:solidFill>
                <a:latin typeface="Noto Sans SC"/>
              </a:defRPr>
            </a:pPr>
            <a:r>
              <a:t>🚀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88720" y="3108960"/>
            <a:ext cx="1828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E2E8F0"/>
                </a:solidFill>
                <a:latin typeface="Noto Sans SC"/>
              </a:defRPr>
            </a:pPr>
            <a:r>
              <a:t>初创创始人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88720" y="3566160"/>
            <a:ext cx="1828800" cy="1737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64748B"/>
                </a:solidFill>
                <a:latin typeface="Noto Sans SC"/>
              </a:defRPr>
            </a:pPr>
            <a:r>
              <a:t>CEO/创始人视角</a:t>
            </a:r>
            <a:br/>
            <a:r>
              <a:t>追问你能不能独立扛事</a:t>
            </a:r>
            <a:br/>
            <a:r>
              <a:t>有没有0到1的能力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3566160" y="2286000"/>
            <a:ext cx="2377440" cy="3291840"/>
          </a:xfrm>
          <a:prstGeom prst="roundRect">
            <a:avLst/>
          </a:prstGeom>
          <a:solidFill>
            <a:srgbClr val="111827"/>
          </a:solidFill>
          <a:ln w="12700">
            <a:solidFill>
              <a:srgbClr val="1E2D3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3840480" y="2560320"/>
            <a:ext cx="1828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0">
                <a:solidFill>
                  <a:srgbClr val="E2E8F0"/>
                </a:solidFill>
                <a:latin typeface="Noto Sans SC"/>
              </a:defRPr>
            </a:pPr>
            <a:r>
              <a:t>💼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840480" y="3108960"/>
            <a:ext cx="1828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E2E8F0"/>
                </a:solidFill>
                <a:latin typeface="Noto Sans SC"/>
              </a:defRPr>
            </a:pPr>
            <a:r>
              <a:t>HR 面试官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840480" y="3566160"/>
            <a:ext cx="1828800" cy="1737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64748B"/>
                </a:solidFill>
                <a:latin typeface="Noto Sans SC"/>
              </a:defRPr>
            </a:pPr>
            <a:r>
              <a:t>HR视角</a:t>
            </a:r>
            <a:br/>
            <a:r>
              <a:t>追问gap、薪资预期</a:t>
            </a:r>
            <a:br/>
            <a:r>
              <a:t>稳定性与团队匹配度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217920" y="2286000"/>
            <a:ext cx="2377440" cy="3291840"/>
          </a:xfrm>
          <a:prstGeom prst="roundRect">
            <a:avLst/>
          </a:prstGeom>
          <a:solidFill>
            <a:srgbClr val="111827"/>
          </a:solidFill>
          <a:ln w="12700">
            <a:solidFill>
              <a:srgbClr val="1E2D3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492240" y="2560320"/>
            <a:ext cx="1828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0">
                <a:solidFill>
                  <a:srgbClr val="E2E8F0"/>
                </a:solidFill>
                <a:latin typeface="Noto Sans SC"/>
              </a:defRPr>
            </a:pPr>
            <a:r>
              <a:t>⚙️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492240" y="3108960"/>
            <a:ext cx="1828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E2E8F0"/>
                </a:solidFill>
                <a:latin typeface="Noto Sans SC"/>
              </a:defRPr>
            </a:pPr>
            <a:r>
              <a:t>技术PM负责人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492240" y="3566160"/>
            <a:ext cx="1828800" cy="1737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64748B"/>
                </a:solidFill>
                <a:latin typeface="Noto Sans SC"/>
              </a:defRPr>
            </a:pPr>
            <a:r>
              <a:t>技术产品视角</a:t>
            </a:r>
            <a:br/>
            <a:r>
              <a:t>深挖架构逻辑与AI理解</a:t>
            </a:r>
            <a:br/>
            <a:r>
              <a:t>不越界到模型层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8869680" y="2286000"/>
            <a:ext cx="2377440" cy="3291840"/>
          </a:xfrm>
          <a:prstGeom prst="roundRect">
            <a:avLst/>
          </a:prstGeom>
          <a:solidFill>
            <a:srgbClr val="111827"/>
          </a:solidFill>
          <a:ln w="12700">
            <a:solidFill>
              <a:srgbClr val="1E2D3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9144000" y="2560320"/>
            <a:ext cx="1828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0">
                <a:solidFill>
                  <a:srgbClr val="E2E8F0"/>
                </a:solidFill>
                <a:latin typeface="Noto Sans SC"/>
              </a:defRPr>
            </a:pPr>
            <a:r>
              <a:t>💰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9144000" y="3108960"/>
            <a:ext cx="1828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E2E8F0"/>
                </a:solidFill>
                <a:latin typeface="Noto Sans SC"/>
              </a:defRPr>
            </a:pPr>
            <a:r>
              <a:t>薪资谈判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9144000" y="3566160"/>
            <a:ext cx="1828800" cy="1737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64748B"/>
                </a:solidFill>
                <a:latin typeface="Noto Sans SC"/>
              </a:defRPr>
            </a:pPr>
            <a:r>
              <a:t>HR谈薪资模拟</a:t>
            </a:r>
            <a:br/>
            <a:r>
              <a:t>AI有隐藏预算</a:t>
            </a:r>
            <a:br/>
            <a:r>
              <a:t>你报价，看结果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112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548640"/>
            <a:ext cx="3657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818CF8"/>
                </a:solidFill>
                <a:latin typeface="Noto Sans SC"/>
              </a:defRPr>
            </a:pPr>
            <a:r>
              <a:t>05 · 核心亮点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1005840"/>
            <a:ext cx="91440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E2E8F0"/>
                </a:solidFill>
                <a:latin typeface="Noto Sans SC"/>
              </a:defRPr>
            </a:pPr>
            <a:r>
              <a:t>每题即时反馈，而非一次性复盘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914400" y="2103120"/>
            <a:ext cx="10058400" cy="1280160"/>
          </a:xfrm>
          <a:prstGeom prst="roundRect">
            <a:avLst/>
          </a:prstGeom>
          <a:solidFill>
            <a:srgbClr val="111827"/>
          </a:solidFill>
          <a:ln w="12700">
            <a:solidFill>
              <a:srgbClr val="34D39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188720" y="2240280"/>
            <a:ext cx="2743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34D399"/>
                </a:solidFill>
                <a:latin typeface="Noto Sans SC"/>
              </a:defRPr>
            </a:pPr>
            <a:r>
              <a:t>✅ 做得好的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88720" y="2606040"/>
            <a:ext cx="932688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94A3B8"/>
                </a:solidFill>
                <a:latin typeface="Noto Sans SC"/>
              </a:defRPr>
            </a:pPr>
            <a:r>
              <a:t>你用了Tempo的82%完成率来支撑论点，数据引用准确。开场先说结论再展开，逻辑结构清晰。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914400" y="3611880"/>
            <a:ext cx="10058400" cy="1280160"/>
          </a:xfrm>
          <a:prstGeom prst="roundRect">
            <a:avLst/>
          </a:prstGeom>
          <a:solidFill>
            <a:srgbClr val="111827"/>
          </a:solidFill>
          <a:ln w="12700">
            <a:solidFill>
              <a:srgbClr val="F8717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188720" y="3749040"/>
            <a:ext cx="2743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F87171"/>
                </a:solidFill>
                <a:latin typeface="Noto Sans SC"/>
              </a:defRPr>
            </a:pPr>
            <a:r>
              <a:t>❌ 需要改善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88720" y="4114800"/>
            <a:ext cx="932688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94A3B8"/>
                </a:solidFill>
                <a:latin typeface="Noto Sans SC"/>
              </a:defRPr>
            </a:pPr>
            <a:r>
              <a:t>"赋能"这个词太虚，面试官听到没感觉。换成"通过五象限路由把完成率从45%拉到82%"。另外第二次追问时你绕开了问题——面试官问你为什么不是3象限，你说了一堆但没直接回答。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914400" y="5120640"/>
            <a:ext cx="10058400" cy="1280160"/>
          </a:xfrm>
          <a:prstGeom prst="roundRect">
            <a:avLst/>
          </a:prstGeom>
          <a:solidFill>
            <a:srgbClr val="111827"/>
          </a:solidFill>
          <a:ln w="12700">
            <a:solidFill>
              <a:srgbClr val="6366F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188720" y="5257800"/>
            <a:ext cx="2743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6366F1"/>
                </a:solidFill>
                <a:latin typeface="Noto Sans SC"/>
              </a:defRPr>
            </a:pPr>
            <a:r>
              <a:t>💡 更好的答法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188720" y="5623560"/>
            <a:ext cx="932688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94A3B8"/>
                </a:solidFill>
                <a:latin typeface="Noto Sans SC"/>
              </a:defRPr>
            </a:pPr>
            <a:r>
              <a:t>"我选5象限而不是3象限，是因为用户数据告诉我：Life和Work场景的问题结构完全不同，混在一起模型会输出噪音。Decision场景需要对比逻辑，Reflect场景需要反思引导——这两个本质也不一样。"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112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548640"/>
            <a:ext cx="3657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818CF8"/>
                </a:solidFill>
                <a:latin typeface="Noto Sans SC"/>
              </a:defRPr>
            </a:pPr>
            <a:r>
              <a:t>06 · 特色功能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1005840"/>
            <a:ext cx="91440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E2E8F0"/>
                </a:solidFill>
                <a:latin typeface="Noto Sans SC"/>
              </a:defRPr>
            </a:pPr>
            <a:r>
              <a:t>语音通话 + 个人档案记忆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914400" y="2286000"/>
            <a:ext cx="4846320" cy="3657600"/>
          </a:xfrm>
          <a:prstGeom prst="roundRect">
            <a:avLst/>
          </a:prstGeom>
          <a:solidFill>
            <a:srgbClr val="111827"/>
          </a:solidFill>
          <a:ln w="12700">
            <a:solidFill>
              <a:srgbClr val="1E2D3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280160" y="2560320"/>
            <a:ext cx="4114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E2E8F0"/>
                </a:solidFill>
                <a:latin typeface="Noto Sans SC"/>
              </a:defRPr>
            </a:pPr>
            <a:r>
              <a:t>🎙 语音通话模式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645920" y="3200400"/>
            <a:ext cx="38404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94A3B8"/>
                </a:solidFill>
                <a:latin typeface="Noto Sans SC"/>
              </a:defRPr>
            </a:pPr>
            <a:r>
              <a:t>• 连续语音对话，像打电话一样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645920" y="3611880"/>
            <a:ext cx="38404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94A3B8"/>
                </a:solidFill>
                <a:latin typeface="Noto Sans SC"/>
              </a:defRPr>
            </a:pPr>
            <a:r>
              <a:t>• 3秒思考停顿自动发送，不打断思路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645920" y="4023360"/>
            <a:ext cx="38404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94A3B8"/>
                </a:solidFill>
                <a:latin typeface="Noto Sans SC"/>
              </a:defRPr>
            </a:pPr>
            <a:r>
              <a:t>• AI回复TTS朗读，可以做家务时练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645920" y="4434840"/>
            <a:ext cx="38404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94A3B8"/>
                </a:solidFill>
                <a:latin typeface="Noto Sans SC"/>
              </a:defRPr>
            </a:pPr>
            <a:r>
              <a:t>• 支持Chrome / Safari（需HTTPS）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645920" y="4846320"/>
            <a:ext cx="38404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94A3B8"/>
                </a:solidFill>
                <a:latin typeface="Noto Sans SC"/>
              </a:defRPr>
            </a:pPr>
            <a:r>
              <a:t>• 文字模式 + 语音模式一键切换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217920" y="2286000"/>
            <a:ext cx="4846320" cy="3657600"/>
          </a:xfrm>
          <a:prstGeom prst="roundRect">
            <a:avLst/>
          </a:prstGeom>
          <a:solidFill>
            <a:srgbClr val="111827"/>
          </a:solidFill>
          <a:ln w="12700">
            <a:solidFill>
              <a:srgbClr val="1E2D3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583680" y="2560320"/>
            <a:ext cx="4114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E2E8F0"/>
                </a:solidFill>
                <a:latin typeface="Noto Sans SC"/>
              </a:defRPr>
            </a:pPr>
            <a:r>
              <a:t>📝 个人档案记忆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949440" y="3200400"/>
            <a:ext cx="38404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94A3B8"/>
                </a:solidFill>
                <a:latin typeface="Noto Sans SC"/>
              </a:defRPr>
            </a:pPr>
            <a:r>
              <a:t>• 背景信息注入AI system prompt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949440" y="3611880"/>
            <a:ext cx="38404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94A3B8"/>
                </a:solidFill>
                <a:latin typeface="Noto Sans SC"/>
              </a:defRPr>
            </a:pPr>
            <a:r>
              <a:t>• Tempo / Mibo / Gap / 转行逻辑全记住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949440" y="4023360"/>
            <a:ext cx="38404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94A3B8"/>
                </a:solidFill>
                <a:latin typeface="Noto Sans SC"/>
              </a:defRPr>
            </a:pPr>
            <a:r>
              <a:t>• 每次练习不用重新交代背景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949440" y="4434840"/>
            <a:ext cx="38404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94A3B8"/>
                </a:solidFill>
                <a:latin typeface="Noto Sans SC"/>
              </a:defRPr>
            </a:pPr>
            <a:r>
              <a:t>• 可编辑档案面板，随时更新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949440" y="4846320"/>
            <a:ext cx="38404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94A3B8"/>
                </a:solidFill>
                <a:latin typeface="Noto Sans SC"/>
              </a:defRPr>
            </a:pPr>
            <a:r>
              <a:t>• 全部数据存本地localStorage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112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548640"/>
            <a:ext cx="3657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818CF8"/>
                </a:solidFill>
                <a:latin typeface="Noto Sans SC"/>
              </a:defRPr>
            </a:pPr>
            <a:r>
              <a:t>07 · 为什么要做这个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1005840"/>
            <a:ext cx="91440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E2E8F0"/>
                </a:solidFill>
                <a:latin typeface="Noto Sans SC"/>
              </a:defRPr>
            </a:pPr>
            <a:r>
              <a:t>通用 AI 聊天 vs Stitch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1188720" y="2286000"/>
            <a:ext cx="2286000" cy="457200"/>
          </a:xfrm>
          <a:prstGeom prst="roundRect">
            <a:avLst/>
          </a:prstGeom>
          <a:solidFill>
            <a:srgbClr val="6366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371600" y="2359152"/>
            <a:ext cx="19202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E2E8F0"/>
                </a:solidFill>
                <a:latin typeface="Noto Sans SC"/>
              </a:defRPr>
            </a:pPr>
            <a:r>
              <a:t>维度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3474720" y="2286000"/>
            <a:ext cx="3200400" cy="457200"/>
          </a:xfrm>
          <a:prstGeom prst="roundRect">
            <a:avLst/>
          </a:prstGeom>
          <a:solidFill>
            <a:srgbClr val="6366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3657600" y="2359152"/>
            <a:ext cx="28346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E2E8F0"/>
                </a:solidFill>
                <a:latin typeface="Noto Sans SC"/>
              </a:defRPr>
            </a:pPr>
            <a:r>
              <a:t>通用 AI 聊天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675120" y="2286000"/>
            <a:ext cx="4114800" cy="457200"/>
          </a:xfrm>
          <a:prstGeom prst="roundRect">
            <a:avLst/>
          </a:prstGeom>
          <a:solidFill>
            <a:srgbClr val="6366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858000" y="2359152"/>
            <a:ext cx="37490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E2E8F0"/>
                </a:solidFill>
                <a:latin typeface="Noto Sans SC"/>
              </a:defRPr>
            </a:pPr>
            <a:r>
              <a:t>Stitch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1188720" y="2834640"/>
            <a:ext cx="2286000" cy="457200"/>
          </a:xfrm>
          <a:prstGeom prst="roundRect">
            <a:avLst/>
          </a:prstGeom>
          <a:solidFill>
            <a:srgbClr val="111827"/>
          </a:solidFill>
          <a:ln w="12700">
            <a:solidFill>
              <a:srgbClr val="1E2D3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371600" y="2907792"/>
            <a:ext cx="19202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E2E8F0"/>
                </a:solidFill>
                <a:latin typeface="Noto Sans SC"/>
              </a:defRPr>
            </a:pPr>
            <a:r>
              <a:t>记住你的项目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3474720" y="2834640"/>
            <a:ext cx="3200400" cy="457200"/>
          </a:xfrm>
          <a:prstGeom prst="roundRect">
            <a:avLst/>
          </a:prstGeom>
          <a:solidFill>
            <a:srgbClr val="111827"/>
          </a:solidFill>
          <a:ln w="12700">
            <a:solidFill>
              <a:srgbClr val="1E2D3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3657600" y="2907792"/>
            <a:ext cx="28346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94A3B8"/>
                </a:solidFill>
                <a:latin typeface="Noto Sans SC"/>
              </a:defRPr>
            </a:pPr>
            <a:r>
              <a:t>需要每次重新交代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675120" y="2834640"/>
            <a:ext cx="4114800" cy="457200"/>
          </a:xfrm>
          <a:prstGeom prst="roundRect">
            <a:avLst/>
          </a:prstGeom>
          <a:solidFill>
            <a:srgbClr val="111827"/>
          </a:solidFill>
          <a:ln w="12700">
            <a:solidFill>
              <a:srgbClr val="1E2D3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858000" y="2907792"/>
            <a:ext cx="37490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34D399"/>
                </a:solidFill>
                <a:latin typeface="Noto Sans SC"/>
              </a:defRPr>
            </a:pPr>
            <a:r>
              <a:t>✅ 档案持久注入 system prompt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1188720" y="3337560"/>
            <a:ext cx="2286000" cy="457200"/>
          </a:xfrm>
          <a:prstGeom prst="roundRect">
            <a:avLst/>
          </a:prstGeom>
          <a:solidFill>
            <a:srgbClr val="0B1120"/>
          </a:solidFill>
          <a:ln w="12700">
            <a:solidFill>
              <a:srgbClr val="1E2D3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1371600" y="3410712"/>
            <a:ext cx="19202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E2E8F0"/>
                </a:solidFill>
                <a:latin typeface="Noto Sans SC"/>
              </a:defRPr>
            </a:pPr>
            <a:r>
              <a:t>追问深度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3474720" y="3337560"/>
            <a:ext cx="3200400" cy="457200"/>
          </a:xfrm>
          <a:prstGeom prst="roundRect">
            <a:avLst/>
          </a:prstGeom>
          <a:solidFill>
            <a:srgbClr val="0B1120"/>
          </a:solidFill>
          <a:ln w="12700">
            <a:solidFill>
              <a:srgbClr val="1E2D3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3657600" y="3410712"/>
            <a:ext cx="28346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94A3B8"/>
                </a:solidFill>
                <a:latin typeface="Noto Sans SC"/>
              </a:defRPr>
            </a:pPr>
            <a:r>
              <a:t>泛泛，不针对个人弱点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6675120" y="3337560"/>
            <a:ext cx="4114800" cy="457200"/>
          </a:xfrm>
          <a:prstGeom prst="roundRect">
            <a:avLst/>
          </a:prstGeom>
          <a:solidFill>
            <a:srgbClr val="0B1120"/>
          </a:solidFill>
          <a:ln w="12700">
            <a:solidFill>
              <a:srgbClr val="1E2D3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858000" y="3410712"/>
            <a:ext cx="37490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34D399"/>
                </a:solidFill>
                <a:latin typeface="Noto Sans SC"/>
              </a:defRPr>
            </a:pPr>
            <a:r>
              <a:t>✅ 知道你的薄弱点，定向深挖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1188720" y="3840480"/>
            <a:ext cx="2286000" cy="457200"/>
          </a:xfrm>
          <a:prstGeom prst="roundRect">
            <a:avLst/>
          </a:prstGeom>
          <a:solidFill>
            <a:srgbClr val="111827"/>
          </a:solidFill>
          <a:ln w="12700">
            <a:solidFill>
              <a:srgbClr val="1E2D3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1371600" y="3913632"/>
            <a:ext cx="19202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E2E8F0"/>
                </a:solidFill>
                <a:latin typeface="Noto Sans SC"/>
              </a:defRPr>
            </a:pPr>
            <a:r>
              <a:t>即时反馈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3474720" y="3840480"/>
            <a:ext cx="3200400" cy="457200"/>
          </a:xfrm>
          <a:prstGeom prst="roundRect">
            <a:avLst/>
          </a:prstGeom>
          <a:solidFill>
            <a:srgbClr val="111827"/>
          </a:solidFill>
          <a:ln w="12700">
            <a:solidFill>
              <a:srgbClr val="1E2D3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3657600" y="3913632"/>
            <a:ext cx="28346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94A3B8"/>
                </a:solidFill>
                <a:latin typeface="Noto Sans SC"/>
              </a:defRPr>
            </a:pPr>
            <a:r>
              <a:t>不会主动点评每道题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6675120" y="3840480"/>
            <a:ext cx="4114800" cy="457200"/>
          </a:xfrm>
          <a:prstGeom prst="roundRect">
            <a:avLst/>
          </a:prstGeom>
          <a:solidFill>
            <a:srgbClr val="111827"/>
          </a:solidFill>
          <a:ln w="12700">
            <a:solidFill>
              <a:srgbClr val="1E2D3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6858000" y="3913632"/>
            <a:ext cx="37490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34D399"/>
                </a:solidFill>
                <a:latin typeface="Noto Sans SC"/>
              </a:defRPr>
            </a:pPr>
            <a:r>
              <a:t>✅ 每答即评 ✅❌💡 三色标注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1188720" y="4343400"/>
            <a:ext cx="2286000" cy="457200"/>
          </a:xfrm>
          <a:prstGeom prst="roundRect">
            <a:avLst/>
          </a:prstGeom>
          <a:solidFill>
            <a:srgbClr val="0B1120"/>
          </a:solidFill>
          <a:ln w="12700">
            <a:solidFill>
              <a:srgbClr val="1E2D3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1371600" y="4416552"/>
            <a:ext cx="19202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E2E8F0"/>
                </a:solidFill>
                <a:latin typeface="Noto Sans SC"/>
              </a:defRPr>
            </a:pPr>
            <a:r>
              <a:t>语音通话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3474720" y="4343400"/>
            <a:ext cx="3200400" cy="457200"/>
          </a:xfrm>
          <a:prstGeom prst="roundRect">
            <a:avLst/>
          </a:prstGeom>
          <a:solidFill>
            <a:srgbClr val="0B1120"/>
          </a:solidFill>
          <a:ln w="12700">
            <a:solidFill>
              <a:srgbClr val="1E2D3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3657600" y="4416552"/>
            <a:ext cx="28346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94A3B8"/>
                </a:solidFill>
                <a:latin typeface="Noto Sans SC"/>
              </a:defRPr>
            </a:pPr>
            <a:r>
              <a:t>不支持连续对话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6675120" y="4343400"/>
            <a:ext cx="4114800" cy="457200"/>
          </a:xfrm>
          <a:prstGeom prst="roundRect">
            <a:avLst/>
          </a:prstGeom>
          <a:solidFill>
            <a:srgbClr val="0B1120"/>
          </a:solidFill>
          <a:ln w="12700">
            <a:solidFill>
              <a:srgbClr val="1E2D3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6858000" y="4416552"/>
            <a:ext cx="37490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34D399"/>
                </a:solidFill>
                <a:latin typeface="Noto Sans SC"/>
              </a:defRPr>
            </a:pPr>
            <a:r>
              <a:t>✅ 持续聆听 + TTS 朗读回复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1188720" y="4846320"/>
            <a:ext cx="2286000" cy="457200"/>
          </a:xfrm>
          <a:prstGeom prst="roundRect">
            <a:avLst/>
          </a:prstGeom>
          <a:solidFill>
            <a:srgbClr val="111827"/>
          </a:solidFill>
          <a:ln w="12700">
            <a:solidFill>
              <a:srgbClr val="1E2D3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1371600" y="4919472"/>
            <a:ext cx="19202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E2E8F0"/>
                </a:solidFill>
                <a:latin typeface="Noto Sans SC"/>
              </a:defRPr>
            </a:pPr>
            <a:r>
              <a:t>进度追踪</a:t>
            </a:r>
          </a:p>
        </p:txBody>
      </p:sp>
      <p:sp>
        <p:nvSpPr>
          <p:cNvPr id="36" name="Rounded Rectangle 35"/>
          <p:cNvSpPr/>
          <p:nvPr/>
        </p:nvSpPr>
        <p:spPr>
          <a:xfrm>
            <a:off x="3474720" y="4846320"/>
            <a:ext cx="3200400" cy="457200"/>
          </a:xfrm>
          <a:prstGeom prst="roundRect">
            <a:avLst/>
          </a:prstGeom>
          <a:solidFill>
            <a:srgbClr val="111827"/>
          </a:solidFill>
          <a:ln w="12700">
            <a:solidFill>
              <a:srgbClr val="1E2D3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3657600" y="4919472"/>
            <a:ext cx="28346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94A3B8"/>
                </a:solidFill>
                <a:latin typeface="Noto Sans SC"/>
              </a:defRPr>
            </a:pPr>
            <a:r>
              <a:t>无</a:t>
            </a:r>
          </a:p>
        </p:txBody>
      </p:sp>
      <p:sp>
        <p:nvSpPr>
          <p:cNvPr id="38" name="Rounded Rectangle 37"/>
          <p:cNvSpPr/>
          <p:nvPr/>
        </p:nvSpPr>
        <p:spPr>
          <a:xfrm>
            <a:off x="6675120" y="4846320"/>
            <a:ext cx="4114800" cy="457200"/>
          </a:xfrm>
          <a:prstGeom prst="roundRect">
            <a:avLst/>
          </a:prstGeom>
          <a:solidFill>
            <a:srgbClr val="111827"/>
          </a:solidFill>
          <a:ln w="12700">
            <a:solidFill>
              <a:srgbClr val="1E2D3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6858000" y="4919472"/>
            <a:ext cx="37490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34D399"/>
                </a:solidFill>
                <a:latin typeface="Noto Sans SC"/>
              </a:defRPr>
            </a:pPr>
            <a:r>
              <a:t>✅ 分数趋势 + 薄弱点标签</a:t>
            </a:r>
          </a:p>
        </p:txBody>
      </p:sp>
      <p:sp>
        <p:nvSpPr>
          <p:cNvPr id="40" name="Rounded Rectangle 39"/>
          <p:cNvSpPr/>
          <p:nvPr/>
        </p:nvSpPr>
        <p:spPr>
          <a:xfrm>
            <a:off x="1188720" y="5349240"/>
            <a:ext cx="2286000" cy="457200"/>
          </a:xfrm>
          <a:prstGeom prst="roundRect">
            <a:avLst/>
          </a:prstGeom>
          <a:solidFill>
            <a:srgbClr val="0B1120"/>
          </a:solidFill>
          <a:ln w="12700">
            <a:solidFill>
              <a:srgbClr val="1E2D3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1371600" y="5422392"/>
            <a:ext cx="19202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E2E8F0"/>
                </a:solidFill>
                <a:latin typeface="Noto Sans SC"/>
              </a:defRPr>
            </a:pPr>
            <a:r>
              <a:t>面试模式</a:t>
            </a:r>
          </a:p>
        </p:txBody>
      </p:sp>
      <p:sp>
        <p:nvSpPr>
          <p:cNvPr id="42" name="Rounded Rectangle 41"/>
          <p:cNvSpPr/>
          <p:nvPr/>
        </p:nvSpPr>
        <p:spPr>
          <a:xfrm>
            <a:off x="3474720" y="5349240"/>
            <a:ext cx="3200400" cy="457200"/>
          </a:xfrm>
          <a:prstGeom prst="roundRect">
            <a:avLst/>
          </a:prstGeom>
          <a:solidFill>
            <a:srgbClr val="0B1120"/>
          </a:solidFill>
          <a:ln w="12700">
            <a:solidFill>
              <a:srgbClr val="1E2D3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3657600" y="5422392"/>
            <a:ext cx="28346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94A3B8"/>
                </a:solidFill>
                <a:latin typeface="Noto Sans SC"/>
              </a:defRPr>
            </a:pPr>
            <a:r>
              <a:t>需要手动构造 prompt</a:t>
            </a:r>
          </a:p>
        </p:txBody>
      </p:sp>
      <p:sp>
        <p:nvSpPr>
          <p:cNvPr id="44" name="Rounded Rectangle 43"/>
          <p:cNvSpPr/>
          <p:nvPr/>
        </p:nvSpPr>
        <p:spPr>
          <a:xfrm>
            <a:off x="6675120" y="5349240"/>
            <a:ext cx="4114800" cy="457200"/>
          </a:xfrm>
          <a:prstGeom prst="roundRect">
            <a:avLst/>
          </a:prstGeom>
          <a:solidFill>
            <a:srgbClr val="0B1120"/>
          </a:solidFill>
          <a:ln w="12700">
            <a:solidFill>
              <a:srgbClr val="1E2D3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6858000" y="5422392"/>
            <a:ext cx="37490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34D399"/>
                </a:solidFill>
                <a:latin typeface="Noto Sans SC"/>
              </a:defRPr>
            </a:pPr>
            <a:r>
              <a:t>✅ 创始人/HR/技术PM 一键切换</a:t>
            </a:r>
          </a:p>
        </p:txBody>
      </p:sp>
      <p:sp>
        <p:nvSpPr>
          <p:cNvPr id="46" name="Rounded Rectangle 45"/>
          <p:cNvSpPr/>
          <p:nvPr/>
        </p:nvSpPr>
        <p:spPr>
          <a:xfrm>
            <a:off x="1188720" y="5852160"/>
            <a:ext cx="2286000" cy="457200"/>
          </a:xfrm>
          <a:prstGeom prst="roundRect">
            <a:avLst/>
          </a:prstGeom>
          <a:solidFill>
            <a:srgbClr val="111827"/>
          </a:solidFill>
          <a:ln w="12700">
            <a:solidFill>
              <a:srgbClr val="1E2D3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TextBox 46"/>
          <p:cNvSpPr txBox="1"/>
          <p:nvPr/>
        </p:nvSpPr>
        <p:spPr>
          <a:xfrm>
            <a:off x="1371600" y="5925312"/>
            <a:ext cx="19202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E2E8F0"/>
                </a:solidFill>
                <a:latin typeface="Noto Sans SC"/>
              </a:defRPr>
            </a:pPr>
            <a:r>
              <a:t>数据隐私</a:t>
            </a:r>
          </a:p>
        </p:txBody>
      </p:sp>
      <p:sp>
        <p:nvSpPr>
          <p:cNvPr id="48" name="Rounded Rectangle 47"/>
          <p:cNvSpPr/>
          <p:nvPr/>
        </p:nvSpPr>
        <p:spPr>
          <a:xfrm>
            <a:off x="3474720" y="5852160"/>
            <a:ext cx="3200400" cy="457200"/>
          </a:xfrm>
          <a:prstGeom prst="roundRect">
            <a:avLst/>
          </a:prstGeom>
          <a:solidFill>
            <a:srgbClr val="111827"/>
          </a:solidFill>
          <a:ln w="12700">
            <a:solidFill>
              <a:srgbClr val="1E2D3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TextBox 48"/>
          <p:cNvSpPr txBox="1"/>
          <p:nvPr/>
        </p:nvSpPr>
        <p:spPr>
          <a:xfrm>
            <a:off x="3657600" y="5925312"/>
            <a:ext cx="28346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94A3B8"/>
                </a:solidFill>
                <a:latin typeface="Noto Sans SC"/>
              </a:defRPr>
            </a:pPr>
            <a:r>
              <a:t>上传云端</a:t>
            </a:r>
          </a:p>
        </p:txBody>
      </p:sp>
      <p:sp>
        <p:nvSpPr>
          <p:cNvPr id="50" name="Rounded Rectangle 49"/>
          <p:cNvSpPr/>
          <p:nvPr/>
        </p:nvSpPr>
        <p:spPr>
          <a:xfrm>
            <a:off x="6675120" y="5852160"/>
            <a:ext cx="4114800" cy="457200"/>
          </a:xfrm>
          <a:prstGeom prst="roundRect">
            <a:avLst/>
          </a:prstGeom>
          <a:solidFill>
            <a:srgbClr val="111827"/>
          </a:solidFill>
          <a:ln w="12700">
            <a:solidFill>
              <a:srgbClr val="1E2D3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TextBox 50"/>
          <p:cNvSpPr txBox="1"/>
          <p:nvPr/>
        </p:nvSpPr>
        <p:spPr>
          <a:xfrm>
            <a:off x="6858000" y="5925312"/>
            <a:ext cx="37490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34D399"/>
                </a:solidFill>
                <a:latin typeface="Noto Sans SC"/>
              </a:defRPr>
            </a:pPr>
            <a:r>
              <a:t>✅ 全部存本地 localStorage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112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548640"/>
            <a:ext cx="3657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818CF8"/>
                </a:solidFill>
                <a:latin typeface="Noto Sans SC"/>
              </a:defRPr>
            </a:pPr>
            <a:r>
              <a:t>08 · 技术架构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1005840"/>
            <a:ext cx="91440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E2E8F0"/>
                </a:solidFill>
                <a:latin typeface="Noto Sans SC"/>
              </a:defRPr>
            </a:pPr>
            <a:r>
              <a:t>轻量、离线友好、手机优先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914400" y="2286000"/>
            <a:ext cx="2377440" cy="3291840"/>
          </a:xfrm>
          <a:prstGeom prst="roundRect">
            <a:avLst/>
          </a:prstGeom>
          <a:solidFill>
            <a:srgbClr val="111827"/>
          </a:solidFill>
          <a:ln w="12700">
            <a:solidFill>
              <a:srgbClr val="1E2D3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188720" y="2560320"/>
            <a:ext cx="1828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0">
                <a:solidFill>
                  <a:srgbClr val="E2E8F0"/>
                </a:solidFill>
                <a:latin typeface="Noto Sans SC"/>
              </a:defRPr>
            </a:pPr>
            <a:r>
              <a:t>🧠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88720" y="3108960"/>
            <a:ext cx="1828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E2E8F0"/>
                </a:solidFill>
                <a:latin typeface="Noto Sans SC"/>
              </a:defRPr>
            </a:pPr>
            <a:r>
              <a:t>AI 引擎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88720" y="3566160"/>
            <a:ext cx="1828800" cy="1737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64748B"/>
                </a:solidFill>
                <a:latin typeface="Noto Sans SC"/>
              </a:defRPr>
            </a:pPr>
            <a:r>
              <a:t>DeepSeek Chat API</a:t>
            </a:r>
            <a:br/>
            <a:r>
              <a:t>System prompt 注入</a:t>
            </a:r>
            <a:br/>
            <a:r>
              <a:t>个人档案+面试官人设</a:t>
            </a:r>
            <a:br/>
            <a:r>
              <a:t>每轮明确指令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3566160" y="2286000"/>
            <a:ext cx="2377440" cy="3291840"/>
          </a:xfrm>
          <a:prstGeom prst="roundRect">
            <a:avLst/>
          </a:prstGeom>
          <a:solidFill>
            <a:srgbClr val="111827"/>
          </a:solidFill>
          <a:ln w="12700">
            <a:solidFill>
              <a:srgbClr val="1E2D3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3840480" y="2560320"/>
            <a:ext cx="1828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0">
                <a:solidFill>
                  <a:srgbClr val="E2E8F0"/>
                </a:solidFill>
                <a:latin typeface="Noto Sans SC"/>
              </a:defRPr>
            </a:pPr>
            <a:r>
              <a:t>🎤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840480" y="3108960"/>
            <a:ext cx="1828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E2E8F0"/>
                </a:solidFill>
                <a:latin typeface="Noto Sans SC"/>
              </a:defRPr>
            </a:pPr>
            <a:r>
              <a:t>语音层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840480" y="3566160"/>
            <a:ext cx="1828800" cy="1737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64748B"/>
                </a:solidFill>
                <a:latin typeface="Noto Sans SC"/>
              </a:defRPr>
            </a:pPr>
            <a:r>
              <a:t>Web Speech API</a:t>
            </a:r>
            <a:br/>
            <a:r>
              <a:t>SpeechRecognition</a:t>
            </a:r>
            <a:br/>
            <a:r>
              <a:t>+ SpeechSynthesis</a:t>
            </a:r>
            <a:br/>
            <a:r>
              <a:t>3秒静默自动发送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217920" y="2286000"/>
            <a:ext cx="2377440" cy="3291840"/>
          </a:xfrm>
          <a:prstGeom prst="roundRect">
            <a:avLst/>
          </a:prstGeom>
          <a:solidFill>
            <a:srgbClr val="111827"/>
          </a:solidFill>
          <a:ln w="12700">
            <a:solidFill>
              <a:srgbClr val="1E2D3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492240" y="2560320"/>
            <a:ext cx="1828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0">
                <a:solidFill>
                  <a:srgbClr val="E2E8F0"/>
                </a:solidFill>
                <a:latin typeface="Noto Sans SC"/>
              </a:defRPr>
            </a:pPr>
            <a:r>
              <a:t>💾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492240" y="3108960"/>
            <a:ext cx="1828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E2E8F0"/>
                </a:solidFill>
                <a:latin typeface="Noto Sans SC"/>
              </a:defRPr>
            </a:pPr>
            <a:r>
              <a:t>数据层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492240" y="3566160"/>
            <a:ext cx="1828800" cy="1737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64748B"/>
                </a:solidFill>
                <a:latin typeface="Noto Sans SC"/>
              </a:defRPr>
            </a:pPr>
            <a:r>
              <a:t>localStorage 全本地</a:t>
            </a:r>
            <a:br/>
            <a:r>
              <a:t>个人档案/API Key/</a:t>
            </a:r>
            <a:br/>
            <a:r>
              <a:t>面试记录/评分数据</a:t>
            </a:r>
            <a:br/>
            <a:r>
              <a:t>不上传任何服务器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8869680" y="2286000"/>
            <a:ext cx="2377440" cy="3291840"/>
          </a:xfrm>
          <a:prstGeom prst="roundRect">
            <a:avLst/>
          </a:prstGeom>
          <a:solidFill>
            <a:srgbClr val="111827"/>
          </a:solidFill>
          <a:ln w="12700">
            <a:solidFill>
              <a:srgbClr val="1E2D3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9144000" y="2560320"/>
            <a:ext cx="1828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0">
                <a:solidFill>
                  <a:srgbClr val="E2E8F0"/>
                </a:solidFill>
                <a:latin typeface="Noto Sans SC"/>
              </a:defRPr>
            </a:pPr>
            <a:r>
              <a:t>🚀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9144000" y="3108960"/>
            <a:ext cx="1828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E2E8F0"/>
                </a:solidFill>
                <a:latin typeface="Noto Sans SC"/>
              </a:defRPr>
            </a:pPr>
            <a:r>
              <a:t>部署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9144000" y="3566160"/>
            <a:ext cx="1828800" cy="1737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64748B"/>
                </a:solidFill>
                <a:latin typeface="Noto Sans SC"/>
              </a:defRPr>
            </a:pPr>
            <a:r>
              <a:t>Vite 纯静态构建</a:t>
            </a:r>
            <a:br/>
            <a:r>
              <a:t>Netlify 自动部署</a:t>
            </a:r>
            <a:br/>
            <a:r>
              <a:t>Git push 即上线</a:t>
            </a:r>
            <a:br/>
            <a:r>
              <a:t>自带HTTPS免翻墙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112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548640"/>
            <a:ext cx="3657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818CF8"/>
                </a:solidFill>
                <a:latin typeface="Noto Sans SC"/>
              </a:defRPr>
            </a:pPr>
            <a:r>
              <a:t>09 · 产品路线图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1005840"/>
            <a:ext cx="91440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E2E8F0"/>
                </a:solidFill>
                <a:latin typeface="Noto Sans SC"/>
              </a:defRPr>
            </a:pPr>
            <a:r>
              <a:t>迭代方向</a:t>
            </a:r>
          </a:p>
        </p:txBody>
      </p:sp>
      <p:sp>
        <p:nvSpPr>
          <p:cNvPr id="4" name="Rectangle 3"/>
          <p:cNvSpPr/>
          <p:nvPr/>
        </p:nvSpPr>
        <p:spPr>
          <a:xfrm>
            <a:off x="914400" y="2423160"/>
            <a:ext cx="365760" cy="25400"/>
          </a:xfrm>
          <a:prstGeom prst="rect">
            <a:avLst/>
          </a:prstGeom>
          <a:solidFill>
            <a:srgbClr val="FBBF2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463040" y="2286000"/>
            <a:ext cx="914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FBBF24"/>
                </a:solidFill>
                <a:latin typeface="Noto Sans SC"/>
              </a:defRPr>
            </a:pPr>
            <a:r>
              <a:t>P1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2286000" y="2286000"/>
            <a:ext cx="2743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E2E8F0"/>
                </a:solidFill>
                <a:latin typeface="Noto Sans SC"/>
              </a:defRPr>
            </a:pPr>
            <a:r>
              <a:t>实时语音打断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286000" y="2651760"/>
            <a:ext cx="7315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94A3B8"/>
                </a:solidFill>
                <a:latin typeface="Noto Sans SC"/>
              </a:defRPr>
            </a:pPr>
            <a:r>
              <a:t>AI说话时可直接打断提问，更贴近真实面试节奏</a:t>
            </a:r>
          </a:p>
        </p:txBody>
      </p:sp>
      <p:sp>
        <p:nvSpPr>
          <p:cNvPr id="8" name="Rectangle 7"/>
          <p:cNvSpPr/>
          <p:nvPr/>
        </p:nvSpPr>
        <p:spPr>
          <a:xfrm>
            <a:off x="914400" y="3474720"/>
            <a:ext cx="365760" cy="25400"/>
          </a:xfrm>
          <a:prstGeom prst="rect">
            <a:avLst/>
          </a:prstGeom>
          <a:solidFill>
            <a:srgbClr val="FBBF2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463040" y="3337560"/>
            <a:ext cx="914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FBBF24"/>
                </a:solidFill>
                <a:latin typeface="Noto Sans SC"/>
              </a:defRPr>
            </a:pPr>
            <a:r>
              <a:t>P2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286000" y="3337560"/>
            <a:ext cx="2743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E2E8F0"/>
                </a:solidFill>
                <a:latin typeface="Noto Sans SC"/>
              </a:defRPr>
            </a:pPr>
            <a:r>
              <a:t>录音回放分析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286000" y="3703320"/>
            <a:ext cx="7315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94A3B8"/>
                </a:solidFill>
                <a:latin typeface="Noto Sans SC"/>
              </a:defRPr>
            </a:pPr>
            <a:r>
              <a:t>保存语音录音，AI分析语速、停顿频率、填充词使用量</a:t>
            </a:r>
          </a:p>
        </p:txBody>
      </p:sp>
      <p:sp>
        <p:nvSpPr>
          <p:cNvPr id="12" name="Rectangle 11"/>
          <p:cNvSpPr/>
          <p:nvPr/>
        </p:nvSpPr>
        <p:spPr>
          <a:xfrm>
            <a:off x="914400" y="4526280"/>
            <a:ext cx="365760" cy="25400"/>
          </a:xfrm>
          <a:prstGeom prst="rect">
            <a:avLst/>
          </a:prstGeom>
          <a:solidFill>
            <a:srgbClr val="FBBF2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463040" y="4389120"/>
            <a:ext cx="914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FBBF24"/>
                </a:solidFill>
                <a:latin typeface="Noto Sans SC"/>
              </a:defRPr>
            </a:pPr>
            <a:r>
              <a:t>P3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2286000" y="4389120"/>
            <a:ext cx="2743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E2E8F0"/>
                </a:solidFill>
                <a:latin typeface="Noto Sans SC"/>
              </a:defRPr>
            </a:pPr>
            <a:r>
              <a:t>岗位匹配度评分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2286000" y="4754880"/>
            <a:ext cx="7315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94A3B8"/>
                </a:solidFill>
                <a:latin typeface="Noto Sans SC"/>
              </a:defRPr>
            </a:pPr>
            <a:r>
              <a:t>粘贴JD后AI评估匹配度，生成针对性练习题目</a:t>
            </a:r>
          </a:p>
        </p:txBody>
      </p:sp>
      <p:sp>
        <p:nvSpPr>
          <p:cNvPr id="16" name="Rectangle 15"/>
          <p:cNvSpPr/>
          <p:nvPr/>
        </p:nvSpPr>
        <p:spPr>
          <a:xfrm>
            <a:off x="914400" y="5577840"/>
            <a:ext cx="365760" cy="25400"/>
          </a:xfrm>
          <a:prstGeom prst="rect">
            <a:avLst/>
          </a:prstGeom>
          <a:solidFill>
            <a:srgbClr val="6474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1463040" y="5440680"/>
            <a:ext cx="914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64748B"/>
                </a:solidFill>
                <a:latin typeface="Noto Sans SC"/>
              </a:defRPr>
            </a:pPr>
            <a:r>
              <a:t>P4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2286000" y="5440680"/>
            <a:ext cx="2743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E2E8F0"/>
                </a:solidFill>
                <a:latin typeface="Noto Sans SC"/>
              </a:defRPr>
            </a:pPr>
            <a:r>
              <a:t>多人面试模拟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2286000" y="5806440"/>
            <a:ext cx="7315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94A3B8"/>
                </a:solidFill>
                <a:latin typeface="Noto Sans SC"/>
              </a:defRPr>
            </a:pPr>
            <a:r>
              <a:t>创始人+HR+技术负责人同时在场，轮流提问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112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73152" cy="6858000"/>
          </a:xfrm>
          <a:prstGeom prst="rect">
            <a:avLst/>
          </a:prstGeom>
          <a:solidFill>
            <a:srgbClr val="6366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14400" y="2011680"/>
            <a:ext cx="91440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600" b="1">
                <a:solidFill>
                  <a:srgbClr val="E2E8F0"/>
                </a:solidFill>
                <a:latin typeface="Noto Sans SC"/>
              </a:defRPr>
            </a:pPr>
            <a:r>
              <a:t>用 AI 面试官，把每一次练习变成进步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3108960"/>
            <a:ext cx="9144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94A3B8"/>
                </a:solidFill>
                <a:latin typeface="Noto Sans SC"/>
              </a:defRPr>
            </a:pPr>
            <a:r>
              <a:t>Stitch v1.0  ·  刘美姣 独立设计与开发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3840480"/>
            <a:ext cx="9144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64748B"/>
                </a:solidFill>
                <a:latin typeface="Noto Sans SC"/>
              </a:defRPr>
            </a:pPr>
            <a:r>
              <a:t>React · DeepSeek API · Web Speech API · Netlify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5029200"/>
            <a:ext cx="9144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818CF8"/>
                </a:solidFill>
                <a:latin typeface="Noto Sans SC"/>
              </a:defRPr>
            </a:pPr>
            <a:r>
              <a:t>github.com/laumj0515-cloud/-stitch-ai-interview-muse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